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64" r:id="rId8"/>
    <p:sldId id="265" r:id="rId9"/>
    <p:sldId id="269" r:id="rId10"/>
    <p:sldId id="262" r:id="rId11"/>
    <p:sldId id="26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E35"/>
    <a:srgbClr val="2E75B6"/>
    <a:srgbClr val="4AAFB3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934458-9C85-BE56-BFAA-902831E562BD}" v="16" dt="2026-05-30T10:25:44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96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6D3DF-196F-327C-B529-2D797A469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18C13-273B-006F-A454-DDB290CBA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8BA16-4D76-0DB2-02FC-A8C0143D0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0E1B2-3CE8-F6F3-3069-DEAB3BF8CB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2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.gov.pl/?utm_source=chatgpt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oecd.org/?utm_source=chatgpt.com" TargetMode="External"/><Relationship Id="rId5" Type="http://schemas.openxmlformats.org/officeDocument/2006/relationships/hyperlink" Target="https://digital-strategy.ec.europa.eu/en/policies/desi?utm_source=chatgpt.com" TargetMode="External"/><Relationship Id="rId4" Type="http://schemas.openxmlformats.org/officeDocument/2006/relationships/hyperlink" Target="https://ec.europa.eu/eurostat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54864" cy="3840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6400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INKLUZYWNE INNOWACJE</a:t>
            </a:r>
            <a:endParaRPr lang="en-US" sz="130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188720"/>
            <a:ext cx="76200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pl-PL" sz="3600" b="1" dirty="0">
                <a:solidFill>
                  <a:srgbClr val="FFFFFF"/>
                </a:solidFill>
                <a:latin typeface="Seaford"/>
                <a:ea typeface="Calibri"/>
                <a:cs typeface="Calibri"/>
              </a:rPr>
              <a:t>Kasy samoobsługowe w sklepach</a:t>
            </a:r>
            <a:endParaRPr lang="en-US" sz="3600" dirty="0">
              <a:solidFill>
                <a:srgbClr val="000000"/>
              </a:solidFill>
              <a:latin typeface="Seaford" panose="00000500000000000000" pitchFamily="2" charset="0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400300"/>
            <a:ext cx="68580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pl-PL" sz="1600" dirty="0">
                <a:solidFill>
                  <a:schemeClr val="bg2">
                    <a:lumMod val="25000"/>
                  </a:schemeClr>
                </a:solidFill>
                <a:latin typeface="Seaford"/>
                <a:ea typeface="Calibri"/>
                <a:cs typeface="Calibri"/>
              </a:rPr>
              <a:t>Z perspektywy osób starszych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Seaford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1E24"/>
          </a:solidFill>
          <a:ln w="12700">
            <a:solidFill>
              <a:srgbClr val="0D1E2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02920" y="4160520"/>
            <a:ext cx="82296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pl-PL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Seaford"/>
                <a:ea typeface="Calibri"/>
                <a:cs typeface="Calibri"/>
              </a:rPr>
              <a:t>Julian Sass-Gustkiewicz</a:t>
            </a:r>
            <a:endParaRPr lang="en-US" sz="1200" b="1" dirty="0">
              <a:solidFill>
                <a:schemeClr val="accent5">
                  <a:lumMod val="60000"/>
                  <a:lumOff val="40000"/>
                </a:schemeClr>
              </a:solidFill>
              <a:latin typeface="Seaford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Seaford"/>
                <a:ea typeface="Calibri"/>
                <a:cs typeface="Calibri"/>
              </a:rPr>
              <a:t>Inkluzywne</a:t>
            </a: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Seaford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Seaford"/>
                <a:ea typeface="Calibri"/>
                <a:cs typeface="Calibri"/>
              </a:rPr>
              <a:t>innowacje</a:t>
            </a: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Seaford"/>
                <a:ea typeface="Calibri"/>
                <a:cs typeface="Calibri"/>
              </a:rPr>
              <a:t> – o </a:t>
            </a:r>
            <a:r>
              <a:rPr lang="en-US" sz="12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Seaford"/>
                <a:ea typeface="Calibri"/>
                <a:cs typeface="Calibri"/>
              </a:rPr>
              <a:t>społecznych</a:t>
            </a: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Seaford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Seaford"/>
                <a:ea typeface="Calibri"/>
                <a:cs typeface="Calibri"/>
              </a:rPr>
              <a:t>aspektach</a:t>
            </a: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Seaford"/>
                <a:ea typeface="Calibri"/>
                <a:cs typeface="Calibri"/>
              </a:rPr>
              <a:t> </a:t>
            </a:r>
            <a:r>
              <a:rPr lang="en-US" sz="12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Seaford"/>
                <a:ea typeface="Calibri"/>
                <a:cs typeface="Calibri"/>
              </a:rPr>
              <a:t>innowacyjności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  <a:latin typeface="Seaford"/>
              <a:ea typeface="Calibri"/>
              <a:cs typeface="Calibri"/>
            </a:endParaRPr>
          </a:p>
          <a:p>
            <a:pPr marL="0" indent="0">
              <a:buNone/>
            </a:pPr>
            <a:r>
              <a:rPr lang="pl-PL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Seaford" panose="00000500000000000000" pitchFamily="2" charset="0"/>
                <a:cs typeface="Calibri" pitchFamily="34" charset="-120"/>
              </a:rPr>
              <a:t>2026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0" y="4846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456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 1 z 8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chemeClr val="accent5">
                    <a:lumMod val="20000"/>
                    <a:lumOff val="8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>
              <a:solidFill>
                <a:schemeClr val="accent5">
                  <a:lumMod val="20000"/>
                  <a:lumOff val="8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05840" y="1905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800" b="1">
                <a:solidFill>
                  <a:srgbClr val="1A2E35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Ogólny opis innowacji</a:t>
            </a:r>
          </a:p>
          <a:p>
            <a:r>
              <a:rPr lang="en-US" sz="1100" i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Co to jest? Jak </a:t>
            </a:r>
            <a:r>
              <a:rPr lang="en-US" sz="1100" i="1" err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działa</a:t>
            </a:r>
            <a:r>
              <a:rPr lang="en-US" sz="1100" i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? </a:t>
            </a:r>
            <a:r>
              <a:rPr lang="en-US" sz="1100" i="1" err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Dla</a:t>
            </a:r>
            <a:r>
              <a:rPr lang="en-US" sz="1100" i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kogo</a:t>
            </a:r>
            <a:r>
              <a:rPr lang="en-US" sz="1100" i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została</a:t>
            </a:r>
            <a:r>
              <a:rPr lang="en-US" sz="1100" i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stworzona</a:t>
            </a:r>
            <a:r>
              <a:rPr lang="en-US" sz="1100" i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>
              <a:solidFill>
                <a:schemeClr val="bg2">
                  <a:lumMod val="5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31831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0F2F4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err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Opis</a:t>
            </a:r>
            <a:r>
              <a:rPr lang="en-US" sz="1300" b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innowacji</a:t>
            </a:r>
            <a:endParaRPr lang="en-US" sz="130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l-PL" sz="1200" b="1" dirty="0">
                <a:solidFill>
                  <a:srgbClr val="1A2E35"/>
                </a:solidFill>
              </a:rPr>
              <a:t>Nazwa:</a:t>
            </a:r>
            <a:r>
              <a:rPr lang="pl-PL" sz="1200" dirty="0">
                <a:solidFill>
                  <a:srgbClr val="1A2E35"/>
                </a:solidFill>
              </a:rPr>
              <a:t> Kasy samoobsługowe</a:t>
            </a:r>
          </a:p>
          <a:p>
            <a:endParaRPr lang="pl-PL" sz="1200" dirty="0">
              <a:solidFill>
                <a:srgbClr val="1A2E35"/>
              </a:solidFill>
            </a:endParaRPr>
          </a:p>
          <a:p>
            <a:r>
              <a:rPr lang="pl-PL" sz="1200" b="1" dirty="0">
                <a:solidFill>
                  <a:srgbClr val="1A2E35"/>
                </a:solidFill>
              </a:rPr>
              <a:t>Twórca / Organizacja:</a:t>
            </a:r>
            <a:r>
              <a:rPr lang="pl-PL" sz="1200" dirty="0">
                <a:solidFill>
                  <a:srgbClr val="1A2E35"/>
                </a:solidFill>
              </a:rPr>
              <a:t> rozwiązanie rozwijane przez wiele firm technologicznych i sieci handlowych</a:t>
            </a:r>
          </a:p>
          <a:p>
            <a:endParaRPr lang="pl-PL" sz="1200" dirty="0">
              <a:solidFill>
                <a:srgbClr val="1A2E35"/>
              </a:solidFill>
            </a:endParaRPr>
          </a:p>
          <a:p>
            <a:r>
              <a:rPr lang="pl-PL" sz="1200" b="1" dirty="0">
                <a:solidFill>
                  <a:srgbClr val="1A2E35"/>
                </a:solidFill>
              </a:rPr>
              <a:t>Rok powstania / wdrożenia:</a:t>
            </a:r>
            <a:r>
              <a:rPr lang="pl-PL" sz="1200" dirty="0">
                <a:solidFill>
                  <a:srgbClr val="1A2E35"/>
                </a:solidFill>
              </a:rPr>
              <a:t> lata 80. XX wieku, masowe wdrożenia od początku XXI wieku</a:t>
            </a:r>
          </a:p>
          <a:p>
            <a:endParaRPr lang="pl-PL" sz="1200" dirty="0">
              <a:solidFill>
                <a:srgbClr val="1A2E35"/>
              </a:solidFill>
            </a:endParaRPr>
          </a:p>
          <a:p>
            <a:r>
              <a:rPr lang="pl-PL" sz="1200" b="1" dirty="0">
                <a:solidFill>
                  <a:srgbClr val="1A2E35"/>
                </a:solidFill>
              </a:rPr>
              <a:t>Kontekst działania:</a:t>
            </a:r>
            <a:r>
              <a:rPr lang="pl-PL" sz="1200" dirty="0">
                <a:solidFill>
                  <a:srgbClr val="1A2E35"/>
                </a:solidFill>
              </a:rPr>
              <a:t> urządzenia umożliwiające samodzielne skanowanie produktów i dokonywanie płatności bez udziału kasjera. Obecnie są powszechnie stosowane w supermarketach, dyskontach i sklepach wielkopowierzchniowych.</a:t>
            </a:r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17995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0F2F4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006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Deklarowany cel</a:t>
            </a:r>
            <a:endParaRPr lang="en-US" sz="130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0" y="1508760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Głównym celem było skrócenie kolejek, zwiększenie wygody klientów oraz obniżenie kosztów obsługi sklepu. Kasy samoobsługowe miały przyspieszyć proces zakupowy i umożliwić klientom większą samodzielność podczas płacenia za produkty.</a:t>
            </a:r>
          </a:p>
        </p:txBody>
      </p:sp>
      <p:sp>
        <p:nvSpPr>
          <p:cNvPr id="12" name="Text 10"/>
          <p:cNvSpPr/>
          <p:nvPr/>
        </p:nvSpPr>
        <p:spPr>
          <a:xfrm>
            <a:off x="7772400" y="4919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BBBBB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SLAJD 2 z 8</a:t>
            </a:r>
            <a:endParaRPr lang="en-US" sz="900">
              <a:latin typeface="Seaford" panose="00000500000000000000" pitchFamily="2" charset="0"/>
            </a:endParaRP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25B23EAC-D93B-F48B-1CE6-50AA5D5F8E81}"/>
              </a:ext>
            </a:extLst>
          </p:cNvPr>
          <p:cNvSpPr/>
          <p:nvPr/>
        </p:nvSpPr>
        <p:spPr>
          <a:xfrm>
            <a:off x="365760" y="899160"/>
            <a:ext cx="8412480" cy="0"/>
          </a:xfrm>
          <a:prstGeom prst="line">
            <a:avLst/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chemeClr val="accent5">
                    <a:lumMod val="20000"/>
                    <a:lumOff val="8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>
              <a:solidFill>
                <a:schemeClr val="accent5">
                  <a:lumMod val="20000"/>
                  <a:lumOff val="8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800" b="1">
                <a:solidFill>
                  <a:srgbClr val="1A2E35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en-US" sz="2800" b="1" err="1">
                <a:solidFill>
                  <a:srgbClr val="1A2E35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rupa</a:t>
            </a:r>
            <a:r>
              <a:rPr lang="en-US" sz="2800" b="1">
                <a:solidFill>
                  <a:srgbClr val="1A2E35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err="1">
                <a:solidFill>
                  <a:srgbClr val="1A2E35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społeczna</a:t>
            </a:r>
            <a:r>
              <a:rPr lang="pl-PL" sz="2800" b="1">
                <a:solidFill>
                  <a:srgbClr val="1A2E35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o cechach szczególnych</a:t>
            </a:r>
            <a:endParaRPr lang="en-US" sz="2800">
              <a:latin typeface="Seaford" panose="000005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5"/>
          <p:cNvSpPr/>
          <p:nvPr/>
        </p:nvSpPr>
        <p:spPr>
          <a:xfrm>
            <a:off x="518160" y="1024128"/>
            <a:ext cx="780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2E35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[Nazwa wybranej grupy społecznej]</a:t>
            </a:r>
            <a:endParaRPr lang="en-US" sz="180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810512"/>
            <a:ext cx="2697480" cy="2651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0F2F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7"/>
          <p:cNvSpPr/>
          <p:nvPr/>
        </p:nvSpPr>
        <p:spPr>
          <a:xfrm>
            <a:off x="365760" y="1783080"/>
            <a:ext cx="2697480" cy="3840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>
              <a:solidFill>
                <a:srgbClr val="FF0000"/>
              </a:solidFill>
              <a:highlight>
                <a:srgbClr val="009999"/>
              </a:highlight>
              <a:latin typeface="Seaford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18105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są?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457200" y="224028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Osoby starsze często mają mniejsze doświadczenie w korzystaniu z nowych technologii. Część z nich zmaga się również z pogorszeniem wzroku, słuchu, sprawności ruchowej lub pamięci. Dla wielu seniorów tradycyjna obsługa przez pracownika sklepu jest bardziej komfortowa i zrozumiała.</a:t>
            </a:r>
            <a:endParaRPr lang="en-US" sz="120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46120" y="1783080"/>
            <a:ext cx="2697480" cy="2651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0F2F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1"/>
          <p:cNvSpPr/>
          <p:nvPr/>
        </p:nvSpPr>
        <p:spPr>
          <a:xfrm>
            <a:off x="3246120" y="1783080"/>
            <a:ext cx="2697480" cy="3840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2"/>
          <p:cNvSpPr/>
          <p:nvPr/>
        </p:nvSpPr>
        <p:spPr>
          <a:xfrm>
            <a:off x="3337560" y="18105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Dlaczego ta grupa?</a:t>
            </a:r>
            <a:endParaRPr lang="en-US" sz="1300">
              <a:latin typeface="Seaford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337560" y="224028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Kasy samoobsługowe wymagają samodzielnego wykonywania wielu czynności technicznych. Dla części seniorów może to stanowić barierę, powodować stres lub zniechęcać do korzystania z nowoczesnych rozwiązań.</a:t>
            </a:r>
            <a:endParaRPr lang="en-US" sz="120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26480" y="1783080"/>
            <a:ext cx="2697480" cy="2651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0F2F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5"/>
          <p:cNvSpPr/>
          <p:nvPr/>
        </p:nvSpPr>
        <p:spPr>
          <a:xfrm>
            <a:off x="6126480" y="1783080"/>
            <a:ext cx="2697480" cy="3840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17920" y="18105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problemu</a:t>
            </a:r>
            <a:endParaRPr lang="en-US" sz="1300"/>
          </a:p>
        </p:txBody>
      </p:sp>
      <p:sp>
        <p:nvSpPr>
          <p:cNvPr id="20" name="Text 17"/>
          <p:cNvSpPr/>
          <p:nvPr/>
        </p:nvSpPr>
        <p:spPr>
          <a:xfrm>
            <a:off x="6217920" y="2240280"/>
            <a:ext cx="2514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Społeczeństwa europejskie starzeją się z roku na rok. W Polsce osoby powyżej 60. roku życia stanowią już znaczącą część populacji. Jednocześnie poziom kompetencji cyfrowych wśród seniorów pozostaje niższy niż w młodszych grupach wiekowych, co zwiększa ryzyko wykluczenia technologicznego.</a:t>
            </a:r>
            <a:endParaRPr lang="en-US" sz="120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772400" y="4919472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SLAJD 3 z 8</a:t>
            </a:r>
            <a:endParaRPr lang="en-US" sz="90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D04C8E77-77B2-9E0C-7137-8E485464A7DC}"/>
              </a:ext>
            </a:extLst>
          </p:cNvPr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365760" y="113861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>
              <a:solidFill>
                <a:srgbClr val="C00000"/>
              </a:solidFill>
              <a:latin typeface="Seaford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1492758"/>
            <a:ext cx="4114800" cy="9692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 dirty="0">
              <a:latin typeface="Seaford" panose="00000500000000000000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1492758"/>
            <a:ext cx="54864" cy="9692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30352" y="153847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Dostęp</a:t>
            </a:r>
            <a:endParaRPr lang="en-US" sz="1300" dirty="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0352" y="182194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1050" dirty="0">
                <a:solidFill>
                  <a:srgbClr val="1A2E35"/>
                </a:solidFill>
              </a:rPr>
              <a:t>Mimo że kasy samoobsługowe są dostępne fizycznie w sklepach, nie zawsze są dostępne funkcjonalnie. Niewielkie przyciski, skomplikowane komunikaty czy szybkie tempo działania systemu utrudniają korzystanie z nich osobom starszym.</a:t>
            </a:r>
            <a:endParaRPr lang="en-US" sz="105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1492758"/>
            <a:ext cx="4114800" cy="9692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4663440" y="1492758"/>
            <a:ext cx="54864" cy="9692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828032" y="153847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Projektowanie</a:t>
            </a:r>
            <a:endParaRPr lang="en-US" sz="130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28032" y="182194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1050" dirty="0">
                <a:solidFill>
                  <a:srgbClr val="1A2E35"/>
                </a:solidFill>
              </a:rPr>
              <a:t>Projektanci skupiali się głównie na szybkości obsługi i efektywności. Potrzeby seniorów często nie były priorytetem podczas projektowania interfejsów oraz testowania nowych rozwiązań.</a:t>
            </a:r>
            <a:endParaRPr lang="en-US" sz="105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2553462"/>
            <a:ext cx="4114800" cy="9692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365760" y="2553462"/>
            <a:ext cx="54864" cy="9692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530352" y="259918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Skutki uboczne</a:t>
            </a:r>
            <a:endParaRPr lang="en-US" sz="130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0352" y="288264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1050" dirty="0">
                <a:solidFill>
                  <a:srgbClr val="1A2E35"/>
                </a:solidFill>
              </a:rPr>
              <a:t>Korzystanie z kas samoobsługowych może wywoływać stres, poczucie zagubienia oraz obawę przed popełnieniem błędu. W efekcie część osób starszych unika sklepów, w których dominują takie rozwiązania.</a:t>
            </a:r>
            <a:endParaRPr lang="en-US" sz="105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440" y="2553462"/>
            <a:ext cx="4114800" cy="9692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>
              <a:solidFill>
                <a:srgbClr val="009999"/>
              </a:solidFill>
              <a:latin typeface="Seaford" panose="00000500000000000000" pitchFamily="2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63440" y="2553462"/>
            <a:ext cx="54864" cy="9692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828032" y="259918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Władza</a:t>
            </a:r>
            <a:r>
              <a:rPr lang="en-US" sz="1300" b="1" dirty="0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b="1" dirty="0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zyski</a:t>
            </a:r>
            <a:endParaRPr lang="en-US" sz="1300" dirty="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28032" y="288264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1050" dirty="0">
                <a:solidFill>
                  <a:srgbClr val="1A2E35"/>
                </a:solidFill>
              </a:rPr>
              <a:t>Sieci handlowe oszczędzają na kosztach obsługi i zwiększają wydajność. Seniorzy często korzystają z tych rozwiązań w ograniczonym stopniu, dlatego korzyści nie są rozłożone równomiernie.</a:t>
            </a:r>
            <a:endParaRPr lang="en-US" sz="105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3614166"/>
            <a:ext cx="4114800" cy="9692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365760" y="3614166"/>
            <a:ext cx="54864" cy="9692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530352" y="365988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Utrwalenie</a:t>
            </a:r>
            <a:r>
              <a:rPr lang="en-US" sz="1300" b="1" dirty="0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wykluczenia</a:t>
            </a:r>
            <a:endParaRPr lang="en-US" sz="1300" dirty="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30352" y="394335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1050" dirty="0">
                <a:solidFill>
                  <a:srgbClr val="1A2E35"/>
                </a:solidFill>
              </a:rPr>
              <a:t>Wraz ze wzrostem liczby kas samoobsługowych zmniejsza się liczba tradycyjnych stanowisk kasowych. Powoduje to, że seniorzy mają coraz mniej możliwości wyboru formy obsługi odpowiadającej ich potrzebom. </a:t>
            </a:r>
            <a:endParaRPr lang="en-US" sz="105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3614166"/>
            <a:ext cx="4114800" cy="9692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3614166"/>
            <a:ext cx="54864" cy="96926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4828032" y="365988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Inne </a:t>
            </a:r>
            <a:r>
              <a:rPr lang="en-US" sz="1300" b="1" dirty="0" err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napięcia</a:t>
            </a:r>
            <a:endParaRPr lang="en-US" sz="1300" dirty="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28032" y="394335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l-PL" sz="1050" dirty="0">
                <a:solidFill>
                  <a:srgbClr val="1A2E35"/>
                </a:solidFill>
              </a:rPr>
              <a:t>Automatyzacja ogranicza kontakt z pracownikami sklepu. Dla części seniorów oznacza to mniejsze poczucie komfortu i większe ryzyko izolacji społecznej.</a:t>
            </a:r>
            <a:endParaRPr lang="en-US" sz="105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5760" y="4601718"/>
            <a:ext cx="841248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365760" y="465658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2C4B1B7D-1B8C-40AE-616E-47F8166C72CE}"/>
              </a:ext>
            </a:extLst>
          </p:cNvPr>
          <p:cNvSpPr/>
          <p:nvPr/>
        </p:nvSpPr>
        <p:spPr>
          <a:xfrm>
            <a:off x="289016" y="130683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4000" b="1">
                <a:solidFill>
                  <a:schemeClr val="accent5">
                    <a:lumMod val="20000"/>
                    <a:lumOff val="80000"/>
                  </a:schemeClr>
                </a:solidFill>
                <a:latin typeface="Seaford" panose="00000500000000000000" pitchFamily="2" charset="0"/>
                <a:cs typeface="Calibri" pitchFamily="34" charset="-120"/>
              </a:rPr>
              <a:t>04</a:t>
            </a:r>
            <a:endParaRPr lang="en-US" sz="4000">
              <a:solidFill>
                <a:schemeClr val="accent5">
                  <a:lumMod val="20000"/>
                  <a:lumOff val="8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905A52F0-10F9-769F-775B-7B9211E57B98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0279B0C4-C480-FADA-D7CC-86523FEFE04A}"/>
              </a:ext>
            </a:extLst>
          </p:cNvPr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E4EF9670-DE58-B5D7-4AD8-172F5FAE93ED}"/>
              </a:ext>
            </a:extLst>
          </p:cNvPr>
          <p:cNvSpPr/>
          <p:nvPr/>
        </p:nvSpPr>
        <p:spPr>
          <a:xfrm>
            <a:off x="1005840" y="169164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800" b="1">
                <a:solidFill>
                  <a:srgbClr val="1A2E35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Analiza krytyczna – jak innowacja „zawodzi”</a:t>
            </a:r>
          </a:p>
          <a:p>
            <a:r>
              <a:rPr lang="pl-PL" sz="1100" i="1">
                <a:solidFill>
                  <a:schemeClr val="bg2">
                    <a:lumMod val="5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Jak ta innowacja działa (lub nie działa) dla wybranej grupy?</a:t>
            </a:r>
            <a:endParaRPr lang="en-US" sz="1100">
              <a:solidFill>
                <a:schemeClr val="bg2">
                  <a:lumMod val="50000"/>
                </a:schemeClr>
              </a:solidFill>
              <a:latin typeface="Seaford" panose="000005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365760" y="1389888"/>
            <a:ext cx="2743200" cy="32461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 dirty="0"/>
          </a:p>
        </p:txBody>
      </p:sp>
      <p:sp>
        <p:nvSpPr>
          <p:cNvPr id="9" name="Shape 7"/>
          <p:cNvSpPr/>
          <p:nvPr/>
        </p:nvSpPr>
        <p:spPr>
          <a:xfrm>
            <a:off x="365760" y="1197864"/>
            <a:ext cx="2743200" cy="4023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119786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Przykład 1</a:t>
            </a:r>
            <a:endParaRPr lang="en-US" sz="1300">
              <a:latin typeface="Seaford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1655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1600" i="1" dirty="0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Dostęp</a:t>
            </a:r>
            <a:endParaRPr lang="en-US" sz="1600" dirty="0">
              <a:latin typeface="Seaford" panose="00000500000000000000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2112264"/>
            <a:ext cx="2468880" cy="2383536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2185416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W wielu sklepach liczba tradycyjnych kas została ograniczona do minimum. Seniorzy, którzy nie czują się pewnie w obsłudze ekranów dotykowych, często są zmuszeni do korzystania z kas samoobsługowych lub oczekiwania w dłuższych kolejkach.</a:t>
            </a:r>
            <a:endParaRPr lang="en-US" sz="1150" dirty="0">
              <a:solidFill>
                <a:srgbClr val="1A2E35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64408" y="1389888"/>
            <a:ext cx="2743200" cy="32461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64408" y="1197864"/>
            <a:ext cx="2743200" cy="4023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264408" y="119786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Dane / statystyki</a:t>
            </a:r>
            <a:endParaRPr lang="en-US" sz="1300">
              <a:latin typeface="Seaford" panose="00000500000000000000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01568" y="1655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>
              <a:latin typeface="Seaford" panose="00000500000000000000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01568" y="2112264"/>
            <a:ext cx="2468880" cy="2383536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93008" y="2185416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Według badań dotyczących kompetencji cyfrowych osoby po 60. roku życia znacznie rzadziej korzystają z nowych technologii niż młodsze grupy wiekowe. Oznacza to większe trudności przy obsłudze urządzeń cyfrowych, w tym kas samoobsługowych.</a:t>
            </a:r>
            <a:endParaRPr lang="en-US" sz="1150" dirty="0">
              <a:solidFill>
                <a:srgbClr val="1A2E35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63056" y="1389888"/>
            <a:ext cx="2743200" cy="32461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6163056" y="1197864"/>
            <a:ext cx="2743200" cy="402336"/>
          </a:xfrm>
          <a:prstGeom prst="rect">
            <a:avLst/>
          </a:prstGeom>
          <a:solidFill>
            <a:srgbClr val="4AAFB3"/>
          </a:solidFill>
          <a:ln w="12700">
            <a:solidFill>
              <a:srgbClr val="4AAFB3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63056" y="1197864"/>
            <a:ext cx="2743200" cy="4023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Przykład 2 lub cytat</a:t>
            </a:r>
            <a:endParaRPr lang="en-US" sz="1300">
              <a:latin typeface="Seaford" panose="000005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0216" y="1655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1600" i="1" dirty="0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Projektowanie</a:t>
            </a:r>
            <a:endParaRPr lang="en-US" sz="1600" dirty="0">
              <a:latin typeface="Seaford" panose="00000500000000000000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00216" y="2112264"/>
            <a:ext cx="2468880" cy="2383536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6391656" y="2185416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Interfejsy kas samoobsługowych są projektowane głównie z myślą o sprawnej obsłudze. Małe przyciski, komunikaty wyświetlane przez krótki czas oraz wiele kroków do wykonania mogą stanowić barierę dla osób starszych.</a:t>
            </a:r>
            <a:endParaRPr lang="en-US" sz="115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900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900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Ten slajd można powtórzyć, jeśli macie </a:t>
            </a:r>
            <a:r>
              <a:rPr lang="en-US" sz="900" err="1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więcej</a:t>
            </a:r>
            <a:r>
              <a:rPr lang="en-US" sz="900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err="1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materiału</a:t>
            </a:r>
            <a:endParaRPr lang="en-US" sz="900">
              <a:latin typeface="Seaford" panose="00000500000000000000" pitchFamily="2" charset="0"/>
            </a:endParaRPr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6D6A9922-E7F9-CECB-C865-F18749649D9A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31731E82-8425-6D0C-7F18-C94E398723D4}"/>
              </a:ext>
            </a:extLst>
          </p:cNvPr>
          <p:cNvSpPr/>
          <p:nvPr/>
        </p:nvSpPr>
        <p:spPr>
          <a:xfrm>
            <a:off x="289016" y="286511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4000" b="1">
                <a:solidFill>
                  <a:schemeClr val="accent5">
                    <a:lumMod val="20000"/>
                    <a:lumOff val="80000"/>
                  </a:schemeClr>
                </a:solidFill>
                <a:latin typeface="Seaford" panose="00000500000000000000" pitchFamily="2" charset="0"/>
                <a:cs typeface="Calibri" pitchFamily="34" charset="-120"/>
              </a:rPr>
              <a:t>05</a:t>
            </a:r>
            <a:endParaRPr lang="en-US" sz="4000">
              <a:solidFill>
                <a:schemeClr val="accent5">
                  <a:lumMod val="20000"/>
                  <a:lumOff val="8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105E13CC-479E-613B-8609-06CF0E7FBAF6}"/>
              </a:ext>
            </a:extLst>
          </p:cNvPr>
          <p:cNvSpPr/>
          <p:nvPr/>
        </p:nvSpPr>
        <p:spPr>
          <a:xfrm>
            <a:off x="967540" y="332231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800" b="1" dirty="0">
                <a:solidFill>
                  <a:srgbClr val="1A2E35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Przykłady i dowody</a:t>
            </a: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B7369E7A-71D4-A988-4A13-4F1D4EEC9F3D}"/>
              </a:ext>
            </a:extLst>
          </p:cNvPr>
          <p:cNvSpPr/>
          <p:nvPr/>
        </p:nvSpPr>
        <p:spPr>
          <a:xfrm>
            <a:off x="365760" y="990600"/>
            <a:ext cx="8412480" cy="0"/>
          </a:xfrm>
          <a:prstGeom prst="line">
            <a:avLst/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2C9A8-9385-2E67-AD24-FF7B6E71F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>
            <a:extLst>
              <a:ext uri="{FF2B5EF4-FFF2-40B4-BE49-F238E27FC236}">
                <a16:creationId xmlns:a16="http://schemas.microsoft.com/office/drawing/2014/main" id="{1E72C31C-6466-A927-E6A5-938032900385}"/>
              </a:ext>
            </a:extLst>
          </p:cNvPr>
          <p:cNvSpPr/>
          <p:nvPr/>
        </p:nvSpPr>
        <p:spPr>
          <a:xfrm>
            <a:off x="365760" y="1389888"/>
            <a:ext cx="2743200" cy="32461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C08D315-CFAE-9E23-1080-BA4BCCBD84B5}"/>
              </a:ext>
            </a:extLst>
          </p:cNvPr>
          <p:cNvSpPr/>
          <p:nvPr/>
        </p:nvSpPr>
        <p:spPr>
          <a:xfrm>
            <a:off x="365760" y="1197864"/>
            <a:ext cx="2743200" cy="4023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F2D0408-B687-A53D-EFEF-2B78952B8CBF}"/>
              </a:ext>
            </a:extLst>
          </p:cNvPr>
          <p:cNvSpPr/>
          <p:nvPr/>
        </p:nvSpPr>
        <p:spPr>
          <a:xfrm>
            <a:off x="365760" y="119786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Przykład 1</a:t>
            </a:r>
            <a:endParaRPr lang="en-US" sz="1300">
              <a:latin typeface="Seaford" panose="00000500000000000000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0C7F192-A4B8-6510-EADB-BE9C0739CF5D}"/>
              </a:ext>
            </a:extLst>
          </p:cNvPr>
          <p:cNvSpPr/>
          <p:nvPr/>
        </p:nvSpPr>
        <p:spPr>
          <a:xfrm>
            <a:off x="502920" y="1655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1600" i="1" dirty="0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Skutki uboczne</a:t>
            </a:r>
            <a:endParaRPr lang="en-US" sz="1600" dirty="0">
              <a:latin typeface="Seaford" panose="00000500000000000000" pitchFamily="2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D563DB1-B4E4-57F6-172B-D6D7C5DBA8CB}"/>
              </a:ext>
            </a:extLst>
          </p:cNvPr>
          <p:cNvSpPr/>
          <p:nvPr/>
        </p:nvSpPr>
        <p:spPr>
          <a:xfrm>
            <a:off x="502920" y="2112264"/>
            <a:ext cx="2468880" cy="2383536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2727DBB-537D-61AA-A72F-8289AE43C6A0}"/>
              </a:ext>
            </a:extLst>
          </p:cNvPr>
          <p:cNvSpPr/>
          <p:nvPr/>
        </p:nvSpPr>
        <p:spPr>
          <a:xfrm>
            <a:off x="594360" y="2185416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Seniorzy często proszą pracowników sklepu o pomoc podczas skanowania produktów, ważenia warzyw lub realizacji płatności. Powoduje to stres i obawę przed popełnieniem błędu.</a:t>
            </a:r>
            <a:endParaRPr lang="en-US" sz="1150" dirty="0">
              <a:solidFill>
                <a:srgbClr val="1A2E35"/>
              </a:solidFill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1354C3E-EAA6-0992-125B-32E5E6834EAB}"/>
              </a:ext>
            </a:extLst>
          </p:cNvPr>
          <p:cNvSpPr/>
          <p:nvPr/>
        </p:nvSpPr>
        <p:spPr>
          <a:xfrm>
            <a:off x="3264408" y="1389888"/>
            <a:ext cx="2743200" cy="32461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ABE36FA-62FA-3A92-48DF-7B27F00FA6B5}"/>
              </a:ext>
            </a:extLst>
          </p:cNvPr>
          <p:cNvSpPr/>
          <p:nvPr/>
        </p:nvSpPr>
        <p:spPr>
          <a:xfrm>
            <a:off x="3264408" y="1197864"/>
            <a:ext cx="2743200" cy="4023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F96398A-5773-08EE-6488-2FC26CEEB705}"/>
              </a:ext>
            </a:extLst>
          </p:cNvPr>
          <p:cNvSpPr/>
          <p:nvPr/>
        </p:nvSpPr>
        <p:spPr>
          <a:xfrm>
            <a:off x="3264408" y="119786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Dane / statystyki</a:t>
            </a:r>
            <a:endParaRPr lang="en-US" sz="1300">
              <a:latin typeface="Seaford" panose="00000500000000000000" pitchFamily="2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CBC5ED-36C8-F8D4-62E1-43FC1F85E075}"/>
              </a:ext>
            </a:extLst>
          </p:cNvPr>
          <p:cNvSpPr/>
          <p:nvPr/>
        </p:nvSpPr>
        <p:spPr>
          <a:xfrm>
            <a:off x="3401568" y="1655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>
              <a:latin typeface="Seaford" panose="00000500000000000000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CA40499-2FEF-D4C1-C500-D02F77F138A7}"/>
              </a:ext>
            </a:extLst>
          </p:cNvPr>
          <p:cNvSpPr/>
          <p:nvPr/>
        </p:nvSpPr>
        <p:spPr>
          <a:xfrm>
            <a:off x="3401568" y="2112264"/>
            <a:ext cx="2468880" cy="2383536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E373901-A498-0721-DB86-A236EEB3FD73}"/>
              </a:ext>
            </a:extLst>
          </p:cNvPr>
          <p:cNvSpPr/>
          <p:nvPr/>
        </p:nvSpPr>
        <p:spPr>
          <a:xfrm>
            <a:off x="3493008" y="2185416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Eksperci zajmujący się wykluczeniem cyfrowym wskazują osoby starsze jako jedną z grup najbardziej narażonych na problemy związane z cyfryzacją usług. Dotyczy to również zakupów w sklepach wyposażonych w kasy samoobsługowe.</a:t>
            </a:r>
            <a:endParaRPr lang="en-US" sz="1150" dirty="0">
              <a:solidFill>
                <a:srgbClr val="1A2E35"/>
              </a:solidFill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346C324-C603-ECD6-F9DB-D4700EDA96A4}"/>
              </a:ext>
            </a:extLst>
          </p:cNvPr>
          <p:cNvSpPr/>
          <p:nvPr/>
        </p:nvSpPr>
        <p:spPr>
          <a:xfrm>
            <a:off x="6163056" y="1389888"/>
            <a:ext cx="2743200" cy="3246120"/>
          </a:xfrm>
          <a:prstGeom prst="rect">
            <a:avLst/>
          </a:prstGeom>
          <a:solidFill>
            <a:srgbClr val="F5F5F5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FE448A5-F7F3-3AE7-ED6E-801AC4A83505}"/>
              </a:ext>
            </a:extLst>
          </p:cNvPr>
          <p:cNvSpPr/>
          <p:nvPr/>
        </p:nvSpPr>
        <p:spPr>
          <a:xfrm>
            <a:off x="6163056" y="1197864"/>
            <a:ext cx="2743200" cy="402336"/>
          </a:xfrm>
          <a:prstGeom prst="rect">
            <a:avLst/>
          </a:prstGeom>
          <a:solidFill>
            <a:srgbClr val="4AAFB3"/>
          </a:solidFill>
          <a:ln w="12700">
            <a:solidFill>
              <a:srgbClr val="4AAFB3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59A114F-9142-1F0E-A3FB-CAFC1A4E378E}"/>
              </a:ext>
            </a:extLst>
          </p:cNvPr>
          <p:cNvSpPr/>
          <p:nvPr/>
        </p:nvSpPr>
        <p:spPr>
          <a:xfrm>
            <a:off x="6163056" y="1197864"/>
            <a:ext cx="2743200" cy="40233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Przykład 2 lub cytat</a:t>
            </a:r>
            <a:endParaRPr lang="en-US" sz="1300">
              <a:latin typeface="Seaford" panose="00000500000000000000" pitchFamily="2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45F9C6C-4AFD-58CB-5A7B-F92E94733C4A}"/>
              </a:ext>
            </a:extLst>
          </p:cNvPr>
          <p:cNvSpPr/>
          <p:nvPr/>
        </p:nvSpPr>
        <p:spPr>
          <a:xfrm>
            <a:off x="6300216" y="16550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1400" i="1" dirty="0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Utrwalenie wykluczenia, władza i zyski</a:t>
            </a:r>
            <a:endParaRPr lang="en-US" sz="1400" dirty="0">
              <a:latin typeface="Seaford" panose="00000500000000000000" pitchFamily="2" charset="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7362459-73D6-2DBE-F159-B76EB33ADD78}"/>
              </a:ext>
            </a:extLst>
          </p:cNvPr>
          <p:cNvSpPr/>
          <p:nvPr/>
        </p:nvSpPr>
        <p:spPr>
          <a:xfrm>
            <a:off x="6300216" y="2112264"/>
            <a:ext cx="2468880" cy="2383536"/>
          </a:xfrm>
          <a:prstGeom prst="rect">
            <a:avLst/>
          </a:prstGeom>
          <a:solidFill>
            <a:srgbClr val="FFFFFF"/>
          </a:solidFill>
          <a:ln w="508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0941DF1-354D-6BE7-8763-3B1937D88F67}"/>
              </a:ext>
            </a:extLst>
          </p:cNvPr>
          <p:cNvSpPr/>
          <p:nvPr/>
        </p:nvSpPr>
        <p:spPr>
          <a:xfrm>
            <a:off x="6391656" y="2185416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Rozwój kas samoobsługowych pozwala sklepom ograniczać koszty obsługi, jednak część seniorów nadal preferuje kontakt z kasjerem. W efekcie przedsiębiorstwa osiągają korzyści finansowe, podczas gdy osoby starsze mogą odczuwać rosnące trudności podczas codziennych zakupów.</a:t>
            </a:r>
            <a:endParaRPr lang="en-US" sz="115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63D8B7E-729F-C33C-5453-24DF57887D31}"/>
              </a:ext>
            </a:extLst>
          </p:cNvPr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2B6ED66-4185-BE53-CFC9-1AB230FE3C10}"/>
              </a:ext>
            </a:extLst>
          </p:cNvPr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900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900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Ten slajd można powtórzyć, jeśli macie </a:t>
            </a:r>
            <a:r>
              <a:rPr lang="en-US" sz="900" err="1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więcej</a:t>
            </a:r>
            <a:r>
              <a:rPr lang="en-US" sz="900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err="1">
                <a:solidFill>
                  <a:srgbClr val="888888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materiału</a:t>
            </a:r>
            <a:endParaRPr lang="en-US" sz="900">
              <a:latin typeface="Seaford" panose="00000500000000000000" pitchFamily="2" charset="0"/>
            </a:endParaRPr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BAB1FE1A-A3E8-A6F6-CE88-51C6A95FAF30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D26A3A3A-46DA-88C1-1EB8-A4644078E215}"/>
              </a:ext>
            </a:extLst>
          </p:cNvPr>
          <p:cNvSpPr/>
          <p:nvPr/>
        </p:nvSpPr>
        <p:spPr>
          <a:xfrm>
            <a:off x="289016" y="286511"/>
            <a:ext cx="73152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pl-PL" sz="4000" b="1">
                <a:solidFill>
                  <a:schemeClr val="accent5">
                    <a:lumMod val="20000"/>
                    <a:lumOff val="80000"/>
                  </a:schemeClr>
                </a:solidFill>
                <a:latin typeface="Seaford"/>
                <a:cs typeface="Calibri"/>
              </a:rPr>
              <a:t>05</a:t>
            </a:r>
            <a:endParaRPr lang="en-US" sz="4000">
              <a:solidFill>
                <a:schemeClr val="accent5">
                  <a:lumMod val="20000"/>
                  <a:lumOff val="8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22B7E9D8-F21B-B34F-EC87-7E96B6F92189}"/>
              </a:ext>
            </a:extLst>
          </p:cNvPr>
          <p:cNvSpPr/>
          <p:nvPr/>
        </p:nvSpPr>
        <p:spPr>
          <a:xfrm>
            <a:off x="1020536" y="3352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2800" b="1" dirty="0">
                <a:solidFill>
                  <a:srgbClr val="1A2E35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Przykłady i dowody</a:t>
            </a: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ED24359-EC24-D2A8-9793-C7031F8804B4}"/>
              </a:ext>
            </a:extLst>
          </p:cNvPr>
          <p:cNvSpPr/>
          <p:nvPr/>
        </p:nvSpPr>
        <p:spPr>
          <a:xfrm>
            <a:off x="365760" y="998220"/>
            <a:ext cx="8412480" cy="0"/>
          </a:xfrm>
          <a:prstGeom prst="line">
            <a:avLst/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93927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chemeClr val="accent5">
                    <a:lumMod val="20000"/>
                    <a:lumOff val="8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000">
              <a:solidFill>
                <a:schemeClr val="accent5">
                  <a:lumMod val="20000"/>
                  <a:lumOff val="8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Rekomendacje i wnioski</a:t>
            </a:r>
            <a:endParaRPr lang="en-US" sz="280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2697480" cy="32918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1E384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2697480" cy="5029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chemeClr val="accent5">
                    <a:lumMod val="20000"/>
                    <a:lumOff val="8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>
              <a:solidFill>
                <a:schemeClr val="accent5">
                  <a:lumMod val="20000"/>
                  <a:lumOff val="8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13533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300" b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Rekomendacje</a:t>
            </a:r>
            <a:endParaRPr lang="en-US" sz="130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1901952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Zapewnienie odpowiedniej liczby tradycyjnych kas obsługiwanych przez pracowników, aby klienci mogli wybrać najbardziej komfortową formę zakupów.</a:t>
            </a:r>
            <a:endParaRPr lang="en-US" sz="120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697480" cy="32918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1E384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3246120" y="1298448"/>
            <a:ext cx="2697480" cy="5029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pl-PL">
              <a:latin typeface="Seaford" panose="000005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37560" y="1325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chemeClr val="accent5">
                    <a:lumMod val="20000"/>
                    <a:lumOff val="8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>
              <a:solidFill>
                <a:schemeClr val="accent5">
                  <a:lumMod val="20000"/>
                  <a:lumOff val="8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40480" y="13533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300" b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Rekomendacje</a:t>
            </a:r>
            <a:endParaRPr lang="en-US" sz="130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37560" y="1901952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Projektowanie bardziej intuicyjnych interfejsów z większymi przyciskami, prostszymi komunikatami i możliwością korzystania z funkcji głosowych.</a:t>
            </a:r>
            <a:endParaRPr lang="en-US" sz="120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26480" y="1298448"/>
            <a:ext cx="2697480" cy="32918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1E384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6126480" y="1298448"/>
            <a:ext cx="2697480" cy="5029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6217920" y="1325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chemeClr val="accent5">
                    <a:lumMod val="20000"/>
                    <a:lumOff val="80000"/>
                  </a:schemeClr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>
              <a:solidFill>
                <a:schemeClr val="accent5">
                  <a:lumMod val="20000"/>
                  <a:lumOff val="8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20840" y="135331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l-PL" sz="1300" b="1">
                <a:solidFill>
                  <a:srgbClr val="2E75B6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Rekomendacje</a:t>
            </a:r>
            <a:endParaRPr lang="en-US" sz="1300">
              <a:solidFill>
                <a:srgbClr val="2E75B6"/>
              </a:solidFill>
              <a:latin typeface="Seaford" panose="00000500000000000000" pitchFamily="2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17920" y="1901952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l-PL" sz="1200" dirty="0">
                <a:solidFill>
                  <a:srgbClr val="1A2E35"/>
                </a:solidFill>
              </a:rPr>
              <a:t>Prowadzenie szkoleń i akcji informacyjnych dla seniorów oraz zapewnienie stałej pomocy pracowników w pobliżu kas samoobsługowych.</a:t>
            </a:r>
            <a:endParaRPr lang="en-US" sz="1200" dirty="0">
              <a:solidFill>
                <a:srgbClr val="1A2E35"/>
              </a:solidFill>
              <a:latin typeface="Seaford" panose="00000500000000000000" pitchFamily="2" charset="0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E4C1B2CF-2E45-D715-A155-28022F451628}"/>
              </a:ext>
            </a:extLst>
          </p:cNvPr>
          <p:cNvSpPr/>
          <p:nvPr/>
        </p:nvSpPr>
        <p:spPr>
          <a:xfrm>
            <a:off x="1013460" y="214557"/>
            <a:ext cx="77556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l-PL" sz="3000" b="1" dirty="0">
                <a:solidFill>
                  <a:srgbClr val="1A1A1A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Perspektywy na przyszłość</a:t>
            </a:r>
            <a:endParaRPr lang="en-US" sz="3000" dirty="0">
              <a:solidFill>
                <a:srgbClr val="C00000"/>
              </a:solidFill>
              <a:latin typeface="Seaford" panose="00000500000000000000" pitchFamily="2" charset="0"/>
            </a:endParaRPr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2AF0BF21-FA7B-8810-F49D-B545B5E6C438}"/>
              </a:ext>
            </a:extLst>
          </p:cNvPr>
          <p:cNvSpPr/>
          <p:nvPr/>
        </p:nvSpPr>
        <p:spPr>
          <a:xfrm>
            <a:off x="365760" y="877824"/>
            <a:ext cx="816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>
              <a:solidFill>
                <a:schemeClr val="bg2">
                  <a:lumMod val="50000"/>
                </a:schemeClr>
              </a:solidFill>
              <a:latin typeface="Seaford" panose="00000500000000000000" pitchFamily="2" charset="0"/>
            </a:endParaRPr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57B35FE4-9EF4-6E3D-3EDD-275DEE1E2403}"/>
              </a:ext>
            </a:extLst>
          </p:cNvPr>
          <p:cNvSpPr/>
          <p:nvPr/>
        </p:nvSpPr>
        <p:spPr>
          <a:xfrm>
            <a:off x="365760" y="822960"/>
            <a:ext cx="8412480" cy="0"/>
          </a:xfrm>
          <a:prstGeom prst="line">
            <a:avLst/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365760" y="384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err="1">
                <a:solidFill>
                  <a:srgbClr val="1A1A1A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Bibligrafia</a:t>
            </a:r>
            <a:r>
              <a:rPr lang="pl-PL" sz="3000" b="1">
                <a:solidFill>
                  <a:srgbClr val="1A1A1A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endParaRPr lang="en-US" sz="3000">
              <a:latin typeface="Seaford" panose="00000500000000000000" pitchFamily="2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35661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pl-PL" dirty="0">
              <a:latin typeface="Seaford" panose="000005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80467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1400" dirty="0">
                <a:hlinkClick r:id="rId3"/>
              </a:rPr>
              <a:t>Główny Urząd Statystyczny</a:t>
            </a:r>
            <a:endParaRPr lang="pl-PL" sz="1400" dirty="0"/>
          </a:p>
          <a:p>
            <a:r>
              <a:rPr lang="pl-PL" sz="1400" dirty="0">
                <a:hlinkClick r:id="rId4"/>
              </a:rPr>
              <a:t>Home – Eurostat</a:t>
            </a:r>
            <a:endParaRPr lang="pl-PL" sz="1400" dirty="0"/>
          </a:p>
          <a:p>
            <a:r>
              <a:rPr lang="pl-PL" sz="1400" dirty="0">
                <a:hlinkClick r:id="rId5"/>
              </a:rPr>
              <a:t>The Digital </a:t>
            </a:r>
            <a:r>
              <a:rPr lang="pl-PL" sz="1400" dirty="0" err="1">
                <a:hlinkClick r:id="rId5"/>
              </a:rPr>
              <a:t>Economy</a:t>
            </a:r>
            <a:r>
              <a:rPr lang="pl-PL" sz="1400" dirty="0">
                <a:hlinkClick r:id="rId5"/>
              </a:rPr>
              <a:t> and </a:t>
            </a:r>
            <a:r>
              <a:rPr lang="pl-PL" sz="1400" dirty="0" err="1">
                <a:hlinkClick r:id="rId5"/>
              </a:rPr>
              <a:t>Society</a:t>
            </a:r>
            <a:r>
              <a:rPr lang="pl-PL" sz="1400" dirty="0">
                <a:hlinkClick r:id="rId5"/>
              </a:rPr>
              <a:t> Index (DESI) | </a:t>
            </a:r>
            <a:r>
              <a:rPr lang="pl-PL" sz="1400" dirty="0" err="1">
                <a:hlinkClick r:id="rId5"/>
              </a:rPr>
              <a:t>Shaping</a:t>
            </a:r>
            <a:r>
              <a:rPr lang="pl-PL" sz="1400" dirty="0">
                <a:hlinkClick r:id="rId5"/>
              </a:rPr>
              <a:t> </a:t>
            </a:r>
            <a:r>
              <a:rPr lang="pl-PL" sz="1400" dirty="0" err="1">
                <a:hlinkClick r:id="rId5"/>
              </a:rPr>
              <a:t>Europe’s</a:t>
            </a:r>
            <a:r>
              <a:rPr lang="pl-PL" sz="1400" dirty="0">
                <a:hlinkClick r:id="rId5"/>
              </a:rPr>
              <a:t> </a:t>
            </a:r>
            <a:r>
              <a:rPr lang="pl-PL" sz="1400" dirty="0" err="1">
                <a:hlinkClick r:id="rId5"/>
              </a:rPr>
              <a:t>digital</a:t>
            </a:r>
            <a:r>
              <a:rPr lang="pl-PL" sz="1400" dirty="0">
                <a:hlinkClick r:id="rId5"/>
              </a:rPr>
              <a:t> </a:t>
            </a:r>
            <a:r>
              <a:rPr lang="pl-PL" sz="1400" dirty="0" err="1">
                <a:hlinkClick r:id="rId5"/>
              </a:rPr>
              <a:t>future</a:t>
            </a:r>
            <a:endParaRPr lang="pl-PL" sz="1400" dirty="0"/>
          </a:p>
          <a:p>
            <a:r>
              <a:rPr lang="pl-PL" sz="1400" dirty="0">
                <a:hlinkClick r:id="rId6"/>
              </a:rPr>
              <a:t>The </a:t>
            </a:r>
            <a:r>
              <a:rPr lang="pl-PL" sz="1400" dirty="0" err="1">
                <a:hlinkClick r:id="rId6"/>
              </a:rPr>
              <a:t>Organisation</a:t>
            </a:r>
            <a:r>
              <a:rPr lang="pl-PL" sz="1400" dirty="0">
                <a:hlinkClick r:id="rId6"/>
              </a:rPr>
              <a:t> for </a:t>
            </a:r>
            <a:r>
              <a:rPr lang="pl-PL" sz="1400" dirty="0" err="1">
                <a:hlinkClick r:id="rId6"/>
              </a:rPr>
              <a:t>Economic</a:t>
            </a:r>
            <a:r>
              <a:rPr lang="pl-PL" sz="1400" dirty="0">
                <a:hlinkClick r:id="rId6"/>
              </a:rPr>
              <a:t> Co-</a:t>
            </a:r>
            <a:r>
              <a:rPr lang="pl-PL" sz="1400" dirty="0" err="1">
                <a:hlinkClick r:id="rId6"/>
              </a:rPr>
              <a:t>operation</a:t>
            </a:r>
            <a:r>
              <a:rPr lang="pl-PL" sz="1400" dirty="0">
                <a:hlinkClick r:id="rId6"/>
              </a:rPr>
              <a:t> and Development | OECD</a:t>
            </a:r>
            <a:endParaRPr lang="pl-PL" sz="1400" dirty="0"/>
          </a:p>
          <a:p>
            <a:endParaRPr lang="en-US" sz="1300" dirty="0">
              <a:latin typeface="Seaford" panose="00000500000000000000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4645152"/>
            <a:ext cx="8412480" cy="329184"/>
          </a:xfrm>
          <a:prstGeom prst="rect">
            <a:avLst/>
          </a:prstGeom>
          <a:solidFill>
            <a:srgbClr val="E0F2F2"/>
          </a:solidFill>
          <a:ln w="508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pl-PL">
              <a:solidFill>
                <a:srgbClr val="2E75B6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>
                <a:solidFill>
                  <a:srgbClr val="007B7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Slajd ze źródłami jest zalecany — pokazuje, że analiza opiera się na </a:t>
            </a:r>
            <a:r>
              <a:rPr lang="en-US" sz="1050" err="1">
                <a:solidFill>
                  <a:srgbClr val="007B7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konkretnych</a:t>
            </a:r>
            <a:r>
              <a:rPr lang="en-US" sz="1050">
                <a:solidFill>
                  <a:srgbClr val="007B7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err="1">
                <a:solidFill>
                  <a:srgbClr val="007B7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danych</a:t>
            </a:r>
            <a:r>
              <a:rPr lang="pl-PL" sz="1050">
                <a:solidFill>
                  <a:srgbClr val="007B7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 i obserwacjach</a:t>
            </a:r>
            <a:r>
              <a:rPr lang="en-US" sz="1050">
                <a:solidFill>
                  <a:srgbClr val="007B7F"/>
                </a:solidFill>
                <a:latin typeface="Seaford" panose="00000500000000000000" pitchFamily="2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>
              <a:latin typeface="Seaford" panose="00000500000000000000" pitchFamily="2" charset="0"/>
            </a:endParaRPr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3A7E4FF5-C7D9-6759-48EC-191050CFE9A6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7E0FCF68-C87D-DCFF-77D0-F31C041F82E8}"/>
              </a:ext>
            </a:extLst>
          </p:cNvPr>
          <p:cNvSpPr/>
          <p:nvPr/>
        </p:nvSpPr>
        <p:spPr>
          <a:xfrm>
            <a:off x="365760" y="950976"/>
            <a:ext cx="8412480" cy="0"/>
          </a:xfrm>
          <a:prstGeom prst="line">
            <a:avLst/>
          </a:prstGeom>
          <a:noFill/>
          <a:ln w="12700">
            <a:solidFill>
              <a:schemeClr val="accent1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E7B752D3C073C4C88C357B0AC31964B" ma:contentTypeVersion="3" ma:contentTypeDescription="Utwórz nowy dokument." ma:contentTypeScope="" ma:versionID="041773d6742f436acec9d6f14d8afafc">
  <xsd:schema xmlns:xsd="http://www.w3.org/2001/XMLSchema" xmlns:xs="http://www.w3.org/2001/XMLSchema" xmlns:p="http://schemas.microsoft.com/office/2006/metadata/properties" xmlns:ns2="e5e28ed8-060a-455f-9f44-0e21808480cd" targetNamespace="http://schemas.microsoft.com/office/2006/metadata/properties" ma:root="true" ma:fieldsID="595497706967e417079b55ef76f70451" ns2:_="">
    <xsd:import namespace="e5e28ed8-060a-455f-9f44-0e21808480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28ed8-060a-455f-9f44-0e21808480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5E7EF2-B849-4521-B1FE-76F8279029CE}">
  <ds:schemaRefs>
    <ds:schemaRef ds:uri="e5e28ed8-060a-455f-9f44-0e21808480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94195BE-3101-4371-8F2A-9CDAAE82E4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D56B1E-8289-46E4-9A88-E5DC87CF45D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</Words>
  <Application>Microsoft Office PowerPoint</Application>
  <PresentationFormat>Pokaz na ekranie (16:9)</PresentationFormat>
  <Paragraphs>94</Paragraphs>
  <Slides>8</Slides>
  <Notes>8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Seaford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Szablon Prezentacji – Inkluzywnne Innowacje</dc:title>
  <dc:subject>PptxGenJS Presentation</dc:subject>
  <dc:creator>PptxGenJS</dc:creator>
  <cp:lastModifiedBy>Julian Sass-Gustkiewicz</cp:lastModifiedBy>
  <cp:revision>10</cp:revision>
  <dcterms:created xsi:type="dcterms:W3CDTF">2026-05-11T14:25:01Z</dcterms:created>
  <dcterms:modified xsi:type="dcterms:W3CDTF">2026-06-07T09:02:23Z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0x0101001E7B752D3C073C4C88C357B0AC31964B</vt:lpwstr>
  </property>
</Properties>
</file>